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USE THIS TEMPLATE:</a:t>
            </a:r>
          </a:p>
          <a:p>
            <a:r>
              <a:t>- Replace every [ bracketed ] placeholder with your details.</a:t>
            </a:r>
          </a:p>
          <a:p>
            <a:r>
              <a:t>- Keep the purple accents and the WEBRIDGE logo for consistency.</a:t>
            </a:r>
          </a:p>
          <a:p>
            <a:r>
              <a:t>- Speaker notes on each slide suggest what to say / fill in.</a:t>
            </a:r>
          </a:p>
          <a:p>
            <a:r>
              <a:t>- Live demo URL and screenshots go on the 'See It Live' slide.</a:t>
            </a:r>
          </a:p>
          <a:p>
            <a:r>
              <a:t>- You can add/remove slides freely — this is a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pain sharply. Optionally add one real stat about how many schemes exist or how many founders miss out. Keep it relatable — mention the student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one-line pitch expanded. Emphasise 'single-window' and the founder-to-mentor bridge — that's the name WEBRIDGE.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product flow. This maps exactly to the live demo, so you can switch to the app right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the three differentiators hardest: grounded AI, swipe UX, and the mentor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in 2-3 real screenshots (landing, swipe, summary/mentors). Put your Vercel link here. If allowed, do a 60-second live walkthrough instead of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love that it's actually deployed and buildable. Mention it's live on Vercel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'why you win' slide. Lead with grounded AI + the mentor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one credible number here (DPIIT-recognised startups, or founders per year). Keep the human outcome as the closing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you know the gaps and have a plan. Judges reward self-awareness + a credible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real names, roles and (optionally) photos — replace the emoji avatars with pictures.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live URL and repo. Have the demo open in another tab, ready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645920"/>
            <a:ext cx="4114800" cy="4114800"/>
          </a:xfrm>
          <a:prstGeom prst="ellipse">
            <a:avLst/>
          </a:prstGeom>
          <a:solidFill>
            <a:srgbClr val="E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4206240"/>
            <a:ext cx="3840480" cy="3840480"/>
          </a:xfrm>
          <a:prstGeom prst="ellipse">
            <a:avLst/>
          </a:prstGeom>
          <a:solidFill>
            <a:srgbClr val="E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7" y="1234440"/>
            <a:ext cx="4206240" cy="2523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7C3AED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45262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B6386"/>
                </a:solidFill>
                <a:latin typeface="Segoe UI"/>
              </a:rPr>
              <a:t>A single-window navigator that matches early-stage Indian founders to the government schemes, funding, incubators and mentors they qualify for — and helps them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1A40"/>
                </a:solidFill>
                <a:latin typeface="Segoe UI"/>
              </a:rPr>
              <a:t>[ Team name ]   ·   [ College ]   ·   [ Competition name ]   ·   [ Date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Startup support in India is scattered and confusing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Fragmented  </a:t>
            </a:r>
            <a:r>
              <a:rPr sz="1900">
                <a:solidFill>
                  <a:srgbClr val="6B6386"/>
                </a:solidFill>
                <a:latin typeface="Segoe UI"/>
              </a:rPr>
              <a:t>100+ government schemes, benefits, grants and incubators live across dozens of separate portals. (verify the exact number)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Overwhelming  </a:t>
            </a:r>
            <a:r>
              <a:rPr sz="1900">
                <a:solidFill>
                  <a:srgbClr val="6B6386"/>
                </a:solidFill>
                <a:latin typeface="Segoe UI"/>
              </a:rPr>
              <a:t>First-time founders — and students exploring an idea — don't know what they qualify for or where to begin.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Jargon-heavy  </a:t>
            </a:r>
            <a:r>
              <a:rPr sz="1900">
                <a:solidFill>
                  <a:srgbClr val="6B6386"/>
                </a:solidFill>
                <a:latin typeface="Segoe UI"/>
              </a:rPr>
              <a:t>Official information reads like a government form, not something written for a founder.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Mentor gap  </a:t>
            </a:r>
            <a:r>
              <a:rPr sz="1900">
                <a:solidFill>
                  <a:srgbClr val="6B6386"/>
                </a:solidFill>
                <a:latin typeface="Segoe UI"/>
              </a:rPr>
              <a:t>Finding the right person to guide you is mostly luck, networking and cold outreach.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WEBRIDGE — your single-window startup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One place  </a:t>
            </a:r>
            <a:r>
              <a:rPr sz="1900">
                <a:solidFill>
                  <a:srgbClr val="6B6386"/>
                </a:solidFill>
                <a:latin typeface="Segoe UI"/>
              </a:rPr>
              <a:t>for early-stage Indian founders and aspiring entrepreneurs to find everything they qualify for.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Personalized  </a:t>
            </a:r>
            <a:r>
              <a:rPr sz="1900">
                <a:solidFill>
                  <a:srgbClr val="6B6386"/>
                </a:solidFill>
                <a:latin typeface="Segoe UI"/>
              </a:rPr>
              <a:t>answer a few questions and get a shortlist of schemes, funding, incubators, competitions and more.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Plain language  </a:t>
            </a:r>
            <a:r>
              <a:rPr sz="1900">
                <a:solidFill>
                  <a:srgbClr val="6B6386"/>
                </a:solidFill>
                <a:latin typeface="Segoe UI"/>
              </a:rPr>
              <a:t>every item explained without jargon, with a step-by-step 'how to apply' checklist.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Human bridge  </a:t>
            </a:r>
            <a:r>
              <a:rPr sz="1900">
                <a:solidFill>
                  <a:srgbClr val="6B6386"/>
                </a:solidFill>
                <a:latin typeface="Segoe UI"/>
              </a:rPr>
              <a:t>then get matched to mentors who fit your sector and stage — and pitch them your idea.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254203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37744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1A40"/>
                </a:solidFill>
                <a:latin typeface="Segoe UI"/>
              </a:rPr>
              <a:t>Tell us about your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208483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6386"/>
                </a:solidFill>
                <a:latin typeface="Segoe UI"/>
              </a:rPr>
              <a:t>Describe it in your own words, or answer a quick questionnaire.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2148840"/>
            <a:ext cx="254203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58768" y="237744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310896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1A40"/>
                </a:solidFill>
                <a:latin typeface="Segoe UI"/>
              </a:rPr>
              <a:t>Swipe to shortlist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520440"/>
            <a:ext cx="208483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6386"/>
                </a:solidFill>
                <a:latin typeface="Segoe UI"/>
              </a:rPr>
              <a:t>Go category by category and swipe right on the schemes that 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5" y="2148840"/>
            <a:ext cx="254203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20255" y="237744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310896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1A40"/>
                </a:solidFill>
                <a:latin typeface="Segoe UI"/>
              </a:rPr>
              <a:t>Get your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5" y="3520440"/>
            <a:ext cx="208483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6386"/>
                </a:solidFill>
                <a:latin typeface="Segoe UI"/>
              </a:rPr>
              <a:t>A personalized action plan plus an AI brief on what to do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3" y="2148840"/>
            <a:ext cx="254203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81743" y="237744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3" y="310896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1A40"/>
                </a:solidFill>
                <a:latin typeface="Segoe UI"/>
              </a:rPr>
              <a:t>Meet a mentor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520440"/>
            <a:ext cx="208483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6386"/>
                </a:solidFill>
                <a:latin typeface="Segoe UI"/>
              </a:rPr>
              <a:t>Get matched, pitch your idea in 400 words, and hear 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🎯  Personalized matching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Only the schemes you actually qualify for, ranked for your profile.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128016" cy="11704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27064" y="201168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💜  Swipe to shortlist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A quick, engaging way to build your list — one card at a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2011680"/>
            <a:ext cx="128016" cy="11704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🤖  Grounded AI navigator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Answers only from curated data — it never invents a scheme.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383280"/>
            <a:ext cx="128016" cy="11704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338328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🤝  Mentor connect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Matched mentors, a 400-word pitch, and real replies.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3383280"/>
            <a:ext cx="128016" cy="11704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75488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🧭  Guided action plan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The right next steps in order: incorporate → DPIIT → funding.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54880"/>
            <a:ext cx="128016" cy="11704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475488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🔒  DPIIT unlock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See exactly what opens up once you get recognised.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4754880"/>
            <a:ext cx="128016" cy="11704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See it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57400"/>
            <a:ext cx="50749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6B6386"/>
                </a:solidFill>
                <a:latin typeface="Segoe UI"/>
              </a:rPr>
              <a:t>[ Screenshot: swipe deck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057400"/>
            <a:ext cx="50749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2" y="35661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6B6386"/>
                </a:solidFill>
                <a:latin typeface="Segoe UI"/>
              </a:rPr>
              <a:t>[ Screenshot: shortlist + matched mentors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D28D9"/>
                </a:solidFill>
                <a:latin typeface="Segoe UI"/>
              </a:rPr>
              <a:t>▶  Try it live:  [ your-vercel-url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Built with a modern, deployable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7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Frontend  </a:t>
            </a:r>
            <a:r>
              <a:rPr sz="1900">
                <a:solidFill>
                  <a:srgbClr val="6B6386"/>
                </a:solidFill>
                <a:latin typeface="Segoe UI"/>
              </a:rPr>
              <a:t>Next.js (App Router) + TypeScript + Tailwind CSS.</a:t>
            </a:r>
          </a:p>
          <a:p>
            <a:pPr>
              <a:lnSpc>
                <a:spcPct val="112000"/>
              </a:lnSpc>
              <a:spcAft>
                <a:spcPts val="17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AI  </a:t>
            </a:r>
            <a:r>
              <a:rPr sz="1900">
                <a:solidFill>
                  <a:srgbClr val="6B6386"/>
                </a:solidFill>
                <a:latin typeface="Segoe UI"/>
              </a:rPr>
              <a:t>Google Gemini, grounded strictly in our curated scheme data.</a:t>
            </a:r>
          </a:p>
          <a:p>
            <a:pPr>
              <a:lnSpc>
                <a:spcPct val="112000"/>
              </a:lnSpc>
              <a:spcAft>
                <a:spcPts val="17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Deployment  </a:t>
            </a:r>
            <a:r>
              <a:rPr sz="1900">
                <a:solidFill>
                  <a:srgbClr val="6B6386"/>
                </a:solidFill>
                <a:latin typeface="Segoe UI"/>
              </a:rPr>
              <a:t>Vercel — one click, auto-deploys on every push to GitHub.</a:t>
            </a:r>
          </a:p>
          <a:p>
            <a:pPr>
              <a:lnSpc>
                <a:spcPct val="112000"/>
              </a:lnSpc>
              <a:spcAft>
                <a:spcPts val="17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Data  </a:t>
            </a:r>
            <a:r>
              <a:rPr sz="1900">
                <a:solidFill>
                  <a:srgbClr val="6B6386"/>
                </a:solidFill>
                <a:latin typeface="Segoe UI"/>
              </a:rPr>
              <a:t>bundled JSON, no database; the user's profile and choices live in the browser.</a:t>
            </a:r>
          </a:p>
          <a:p>
            <a:pPr>
              <a:lnSpc>
                <a:spcPct val="112000"/>
              </a:lnSpc>
              <a:spcAft>
                <a:spcPts val="17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Design  </a:t>
            </a:r>
            <a:r>
              <a:rPr sz="1900">
                <a:solidFill>
                  <a:srgbClr val="6B6386"/>
                </a:solidFill>
                <a:latin typeface="Segoe UI"/>
              </a:rPr>
              <a:t>a custom purple design system with fluid animations, fully responsive.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OUR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Why WEBRIDGE stands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✅  Grounded, honest AI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It answers only from verified data and admits when it doesn't know — no made-up schemes.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128016" cy="137160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27064" y="20116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🌉  A real human bridge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Not just information — an actual connection to a mentor who can help.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2011680"/>
            <a:ext cx="128016" cy="137160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6393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✨  Delightful by design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Swiping turns a boring government search into something you want to finish.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39312"/>
            <a:ext cx="128016" cy="137160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36393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82880" tIns="164592" bIns="109728"/>
          <a:lstStyle/>
          <a:p>
            <a:pPr algn="ctr"/>
            <a:r>
              <a:rPr b="1" sz="1600">
                <a:solidFill>
                  <a:srgbClr val="211A40"/>
                </a:solidFill>
                <a:latin typeface="Segoe UI"/>
              </a:rPr>
              <a:t>🔎  Integrity built in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>
                <a:solidFill>
                  <a:srgbClr val="6B6386"/>
                </a:solidFill>
                <a:latin typeface="Segoe UI"/>
              </a:rPr>
              <a:t>Unverified figures are flagged, never presented as fact.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3639312"/>
            <a:ext cx="128016" cy="137160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Who it's for &amp;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Students &amp; aspiring entrepreneurs  </a:t>
            </a:r>
            <a:r>
              <a:rPr sz="1900">
                <a:solidFill>
                  <a:srgbClr val="6B6386"/>
                </a:solidFill>
                <a:latin typeface="Segoe UI"/>
              </a:rPr>
              <a:t>exploring their very first idea.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Early-stage startups  </a:t>
            </a:r>
            <a:r>
              <a:rPr sz="1900">
                <a:solidFill>
                  <a:srgbClr val="6B6386"/>
                </a:solidFill>
                <a:latin typeface="Segoe UI"/>
              </a:rPr>
              <a:t>hunting for funding, recognition and compliance help.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The ecosystem  </a:t>
            </a:r>
            <a:r>
              <a:rPr sz="1900">
                <a:solidFill>
                  <a:srgbClr val="6B6386"/>
                </a:solidFill>
                <a:latin typeface="Segoe UI"/>
              </a:rPr>
              <a:t>India has [ add a stat — e.g. recognised startups ] and it keeps growing.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b="1" sz="1900">
                <a:solidFill>
                  <a:srgbClr val="211A40"/>
                </a:solidFill>
                <a:latin typeface="Segoe UI"/>
              </a:rPr>
              <a:t>The outcome  </a:t>
            </a:r>
            <a:r>
              <a:rPr sz="1900">
                <a:solidFill>
                  <a:srgbClr val="6B6386"/>
                </a:solidFill>
                <a:latin typeface="Segoe UI"/>
              </a:rPr>
              <a:t>less time lost to confusion, more founders acting on what they qualify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sz="1900">
                <a:solidFill>
                  <a:srgbClr val="211A40"/>
                </a:solidFill>
                <a:latin typeface="Segoe UI"/>
              </a:rPr>
              <a:t>Verify every scheme against its official source — accuracy is the product.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sz="1900">
                <a:solidFill>
                  <a:srgbClr val="211A40"/>
                </a:solidFill>
                <a:latin typeface="Segoe UI"/>
              </a:rPr>
              <a:t>Add accelerators and student-specific programs to the catalogue.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sz="1900">
                <a:solidFill>
                  <a:srgbClr val="211A40"/>
                </a:solidFill>
                <a:latin typeface="Segoe UI"/>
              </a:rPr>
              <a:t>Real mentor messaging (backend) for cross-device conversations.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b="1" sz="1900">
                <a:solidFill>
                  <a:srgbClr val="7C3AED"/>
                </a:solidFill>
                <a:latin typeface="Segoe UI"/>
              </a:rPr>
              <a:t>▸   </a:t>
            </a:r>
            <a:r>
              <a:rPr sz="1900">
                <a:solidFill>
                  <a:srgbClr val="211A40"/>
                </a:solidFill>
                <a:latin typeface="Segoe UI"/>
              </a:rPr>
              <a:t>Reminders, deadlines and a founder community around the schemes.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0292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4124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11A40"/>
                </a:solidFill>
                <a:latin typeface="Segoe UI"/>
              </a:rPr>
              <a:t>Meet 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254203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36775" y="2606040"/>
            <a:ext cx="1005840" cy="1005840"/>
          </a:xfrm>
          <a:prstGeom prst="ellipse">
            <a:avLst/>
          </a:prstGeom>
          <a:solidFill>
            <a:srgbClr val="E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11A40"/>
                </a:solidFill>
                <a:latin typeface="Segoe UI"/>
              </a:rPr>
              <a:t>[ Name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6386"/>
                </a:solidFill>
                <a:latin typeface="Segoe UI"/>
              </a:rPr>
              <a:t>[ Role — e.g. Product &amp; Design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2286000"/>
            <a:ext cx="254203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98264" y="2606040"/>
            <a:ext cx="1005840" cy="1005840"/>
          </a:xfrm>
          <a:prstGeom prst="ellipse">
            <a:avLst/>
          </a:prstGeom>
          <a:solidFill>
            <a:srgbClr val="E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384048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11A40"/>
                </a:solidFill>
                <a:latin typeface="Segoe UI"/>
              </a:rPr>
              <a:t>[ Name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425196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6386"/>
                </a:solidFill>
                <a:latin typeface="Segoe UI"/>
              </a:rPr>
              <a:t>[ Role — e.g. Frontend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5" y="2286000"/>
            <a:ext cx="254203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59751" y="2606040"/>
            <a:ext cx="1005840" cy="1005840"/>
          </a:xfrm>
          <a:prstGeom prst="ellipse">
            <a:avLst/>
          </a:prstGeom>
          <a:solidFill>
            <a:srgbClr val="E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384048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11A40"/>
                </a:solidFill>
                <a:latin typeface="Segoe UI"/>
              </a:rPr>
              <a:t>[ Name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425196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6386"/>
                </a:solidFill>
                <a:latin typeface="Segoe UI"/>
              </a:rPr>
              <a:t>[ Role — e.g. AI &amp; Data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3" y="2286000"/>
            <a:ext cx="254203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21239" y="2606040"/>
            <a:ext cx="1005840" cy="1005840"/>
          </a:xfrm>
          <a:prstGeom prst="ellipse">
            <a:avLst/>
          </a:prstGeom>
          <a:solidFill>
            <a:srgbClr val="E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3" y="384048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11A40"/>
                </a:solidFill>
                <a:latin typeface="Segoe UI"/>
              </a:rPr>
              <a:t>[ Name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3" y="425196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6386"/>
                </a:solidFill>
                <a:latin typeface="Segoe UI"/>
              </a:rPr>
              <a:t>[ Role — e.g. Research &amp; Pitch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386"/>
                </a:solidFill>
                <a:latin typeface="Segoe UI"/>
              </a:rPr>
              <a:t>WEBRIDGE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6419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386"/>
                </a:solidFill>
                <a:latin typeface="Segoe UI"/>
              </a:rPr>
              <a:t>Connecting startups, building futures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38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E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297680"/>
            <a:ext cx="3657600" cy="3657600"/>
          </a:xfrm>
          <a:prstGeom prst="ellipse">
            <a:avLst/>
          </a:prstGeom>
          <a:solidFill>
            <a:srgbClr val="E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7" y="1097280"/>
            <a:ext cx="3291840" cy="1975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211A40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6B6386"/>
                </a:solidFill>
                <a:latin typeface="Segoe UI"/>
              </a:rPr>
              <a:t>We'd love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6D28D9"/>
                </a:solidFill>
                <a:latin typeface="Segoe UI"/>
              </a:rPr>
              <a:t>🔗  [ your-vercel-url ]      💻  github.com/kaipaanish/WE_BRIDGE      ✉  [ email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